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914400"/>
            <a:ext cx="9448495" cy="5029200"/>
          </a:xfrm>
          <a:prstGeom prst="roundRect">
            <a:avLst/>
          </a:prstGeom>
          <a:solidFill>
            <a:srgbClr val="16161C"/>
          </a:solidFill>
          <a:ln w="1905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280160"/>
            <a:ext cx="85340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ROADLYY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56032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A1A1AA"/>
                </a:solidFill>
                <a:latin typeface="Arial"/>
              </a:defRPr>
            </a:pPr>
            <a:r>
              <a:t>Urban Traffic Intelligence &amp; Multi-Horizon Spatial-Temporal ML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566160"/>
            <a:ext cx="85340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Domain: AI in Smart Cities &amp; Urban Mobility</a:t>
            </a:r>
          </a:p>
          <a:p>
            <a:pPr algn="ctr">
              <a:defRPr sz="1500">
                <a:solidFill>
                  <a:srgbClr val="A1A1AA"/>
                </a:solidFill>
                <a:latin typeface="Arial"/>
              </a:defRPr>
            </a:pPr>
            <a:r>
              <a:t>Team: Culers</a:t>
            </a:r>
          </a:p>
          <a:p>
            <a:pPr algn="ctr">
              <a:defRPr sz="1300">
                <a:solidFill>
                  <a:srgbClr val="50505F"/>
                </a:solidFill>
                <a:latin typeface="Arial"/>
              </a:defRPr>
            </a:pPr>
            <a:r>
              <a:t>End-to-End Predictive Traffic Analytics, Graph Shockwaves &amp; Detour Optimization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1. The Urban Gridlock Problem</a:t>
            </a:r>
          </a:p>
          <a:p>
            <a:pPr>
              <a:defRPr sz="1400">
                <a:solidFill>
                  <a:srgbClr val="A1A1AA"/>
                </a:solidFill>
                <a:latin typeface="Arial"/>
              </a:defRPr>
            </a:pPr>
            <a:r>
              <a:t>Non-Linear Congestion &amp; Cascading Shockwave Bottlenecks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6161C"/>
          </a:solidFill>
          <a:ln w="1524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Reactive, Not Predictive</a:t>
            </a:r>
          </a:p>
          <a:p>
            <a:br/>
            <a:pPr>
              <a:defRPr sz="1350">
                <a:solidFill>
                  <a:srgbClr val="A1A1AA"/>
                </a:solidFill>
                <a:latin typeface="Arial"/>
              </a:defRPr>
            </a:pPr>
            <a:r>
              <a:t>Current navigation systems and traffic centers only detect congestion after it has already formed, causing massive driver delays.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16161C"/>
          </a:solidFill>
          <a:ln w="1524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Upstream Spillover Shockwaves</a:t>
            </a:r>
          </a:p>
          <a:p>
            <a:br/>
            <a:pPr>
              <a:defRPr sz="1350">
                <a:solidFill>
                  <a:srgbClr val="A1A1AA"/>
                </a:solidFill>
                <a:latin typeface="Arial"/>
              </a:defRPr>
            </a:pPr>
            <a:r>
              <a:t>A single lane blockage or crash does not stay isolated. Queues spill backward, creating compounding gridlock across feeder links.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16161C"/>
          </a:solidFill>
          <a:ln w="1524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Lack of ROI-Driven Planning</a:t>
            </a:r>
          </a:p>
          <a:p>
            <a:br/>
            <a:pPr>
              <a:defRPr sz="1350">
                <a:solidFill>
                  <a:srgbClr val="A1A1AA"/>
                </a:solidFill>
                <a:latin typeface="Arial"/>
              </a:defRPr>
            </a:pPr>
            <a:r>
              <a:t>Municipalities lack data-driven decision frameworks to quantify which infrastructure upgrades yield the highest delay reductions.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2. Roadlyy Solution Architecture</a:t>
            </a:r>
          </a:p>
          <a:p>
            <a:pPr>
              <a:defRPr sz="1400">
                <a:solidFill>
                  <a:srgbClr val="A1A1AA"/>
                </a:solidFill>
                <a:latin typeface="Arial"/>
              </a:defRPr>
            </a:pPr>
            <a:r>
              <a:t>High-Throughput End-to-End Intelligence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6161C"/>
          </a:solidFill>
          <a:ln w="1524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1. Graph Ingestion Core</a:t>
            </a:r>
          </a:p>
          <a:p>
            <a:br/>
            <a:pPr>
              <a:defRPr sz="1350">
                <a:solidFill>
                  <a:srgbClr val="A1A1AA"/>
                </a:solidFill>
                <a:latin typeface="Arial"/>
              </a:defRPr>
            </a:pPr>
            <a:r>
              <a:t>Directed urban road graph (NetworkX) modeling 436 links and 120 nodes with physical lane capacities and speed limits.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16161C"/>
          </a:solidFill>
          <a:ln w="1524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2. Multi-Horizon ML Models</a:t>
            </a:r>
          </a:p>
          <a:p>
            <a:br/>
            <a:pPr>
              <a:defRPr sz="1350">
                <a:solidFill>
                  <a:srgbClr val="A1A1AA"/>
                </a:solidFill>
                <a:latin typeface="Arial"/>
              </a:defRPr>
            </a:pPr>
            <a:r>
              <a:t>HistGradientBoosting regressors trained on 1.88M+ rows predicting Speed, Flow, and Congestion across +15m, +30m, +45m, and +60m.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16161C"/>
          </a:solidFill>
          <a:ln w="1524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3. Interactive Command Center</a:t>
            </a:r>
          </a:p>
          <a:p>
            <a:br/>
            <a:pPr>
              <a:defRPr sz="1350">
                <a:solidFill>
                  <a:srgbClr val="A1A1AA"/>
                </a:solidFill>
                <a:latin typeface="Arial"/>
              </a:defRPr>
            </a:pPr>
            <a:r>
              <a:t>Sub-millisecond FastAPI REST API powering a dark-monochrome Leaflet geospatial operations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3. Metropolitan Graph &amp; Dataset Scale</a:t>
            </a:r>
          </a:p>
          <a:p>
            <a:pPr>
              <a:defRPr sz="1400">
                <a:solidFill>
                  <a:srgbClr val="A1A1AA"/>
                </a:solidFill>
                <a:latin typeface="Arial"/>
              </a:defRPr>
            </a:pPr>
            <a:r>
              <a:t>High-Fidelity Spatial-Temporal Telemetry Across 19 Continuous Days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6161C"/>
          </a:solidFill>
          <a:ln w="1524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1.88M+ Observations</a:t>
            </a:r>
          </a:p>
          <a:p>
            <a:br/>
            <a:pPr>
              <a:defRPr sz="1350">
                <a:solidFill>
                  <a:srgbClr val="A1A1AA"/>
                </a:solidFill>
                <a:latin typeface="Arial"/>
              </a:defRPr>
            </a:pPr>
            <a:r>
              <a:t>Trained and validated on 1,884,960 records with 5-minute granular velocity, flow volume (vph), and density indices.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16161C"/>
          </a:solidFill>
          <a:ln w="1524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436 Road Links &amp; 120 Nodes</a:t>
            </a:r>
          </a:p>
          <a:p>
            <a:br/>
            <a:pPr>
              <a:defRPr sz="1350">
                <a:solidFill>
                  <a:srgbClr val="A1A1AA"/>
                </a:solidFill>
                <a:latin typeface="Arial"/>
              </a:defRPr>
            </a:pPr>
            <a:r>
              <a:t>Models Hyderabad metropolitan core across Motorways (60 km/h), Arterials (50 km/h), Collectors (40 km/h), and Local streets.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16161C"/>
          </a:solidFill>
          <a:ln w="1524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BPR Physics &amp; Weather Friction</a:t>
            </a:r>
          </a:p>
          <a:p>
            <a:br/>
            <a:pPr>
              <a:defRPr sz="1350">
                <a:solidFill>
                  <a:srgbClr val="A1A1AA"/>
                </a:solidFill>
                <a:latin typeface="Arial"/>
              </a:defRPr>
            </a:pPr>
            <a:r>
              <a:t>Integrates Bureau of Public Roads (BPR) speed-flow-density curves with real-time temperature and rainfall intensity (mm/h).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4. Multi-Horizon AI Forecasting Engine</a:t>
            </a:r>
          </a:p>
          <a:p>
            <a:pPr>
              <a:defRPr sz="1400">
                <a:solidFill>
                  <a:srgbClr val="A1A1AA"/>
                </a:solidFill>
                <a:latin typeface="Arial"/>
              </a:defRPr>
            </a:pPr>
            <a:r>
              <a:t>Validated Accuracy Across 481,344 Targets (HistGradientBoosting)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6161C"/>
          </a:solidFill>
          <a:ln w="1524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103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+15 min</a:t>
            </a:r>
          </a:p>
          <a:p>
            <a:br/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91.0% R²</a:t>
            </a:r>
          </a:p>
          <a:p>
            <a:pPr algn="ctr">
              <a:defRPr sz="1350">
                <a:solidFill>
                  <a:srgbClr val="A1A1AA"/>
                </a:solidFill>
                <a:latin typeface="Arial"/>
              </a:defRPr>
            </a:pPr>
            <a:r>
              <a:t>MAE: 2.38 km/h</a:t>
            </a:r>
          </a:p>
          <a:p>
            <a:br/>
            <a:pPr algn="ctr">
              <a:defRPr sz="1250">
                <a:solidFill>
                  <a:srgbClr val="50505F"/>
                </a:solidFill>
                <a:latin typeface="Arial"/>
              </a:defRPr>
            </a:pPr>
            <a:r>
              <a:t>Tactical immediate forecasting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83864" y="1645920"/>
            <a:ext cx="2468880" cy="4389120"/>
          </a:xfrm>
          <a:prstGeom prst="roundRect">
            <a:avLst/>
          </a:prstGeom>
          <a:solidFill>
            <a:srgbClr val="16161C"/>
          </a:solidFill>
          <a:ln w="1524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66744" y="2011680"/>
            <a:ext cx="2103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+30 min</a:t>
            </a:r>
          </a:p>
          <a:p>
            <a:br/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89.2% R²</a:t>
            </a:r>
          </a:p>
          <a:p>
            <a:pPr algn="ctr">
              <a:defRPr sz="1350">
                <a:solidFill>
                  <a:srgbClr val="A1A1AA"/>
                </a:solidFill>
                <a:latin typeface="Arial"/>
              </a:defRPr>
            </a:pPr>
            <a:r>
              <a:t>MAE: 2.85 km/h</a:t>
            </a:r>
          </a:p>
          <a:p>
            <a:br/>
            <a:pPr algn="ctr">
              <a:defRPr sz="1250">
                <a:solidFill>
                  <a:srgbClr val="50505F"/>
                </a:solidFill>
                <a:latin typeface="Arial"/>
              </a:defRPr>
            </a:pPr>
            <a:r>
              <a:t>Short-term trend projection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645920"/>
            <a:ext cx="2468880" cy="4389120"/>
          </a:xfrm>
          <a:prstGeom prst="roundRect">
            <a:avLst/>
          </a:prstGeom>
          <a:solidFill>
            <a:srgbClr val="16161C"/>
          </a:solidFill>
          <a:ln w="1524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2011680"/>
            <a:ext cx="2103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+45 min</a:t>
            </a:r>
          </a:p>
          <a:p>
            <a:br/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87.4% R²</a:t>
            </a:r>
          </a:p>
          <a:p>
            <a:pPr algn="ctr">
              <a:defRPr sz="1350">
                <a:solidFill>
                  <a:srgbClr val="A1A1AA"/>
                </a:solidFill>
                <a:latin typeface="Arial"/>
              </a:defRPr>
            </a:pPr>
            <a:r>
              <a:t>MAE: 3.12 km/h</a:t>
            </a:r>
          </a:p>
          <a:p>
            <a:br/>
            <a:pPr algn="ctr">
              <a:defRPr sz="1250">
                <a:solidFill>
                  <a:srgbClr val="50505F"/>
                </a:solidFill>
                <a:latin typeface="Arial"/>
              </a:defRPr>
            </a:pPr>
            <a:r>
              <a:t>Medium-range buildup alert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88552" y="1645920"/>
            <a:ext cx="2468880" cy="4389120"/>
          </a:xfrm>
          <a:prstGeom prst="roundRect">
            <a:avLst/>
          </a:prstGeom>
          <a:solidFill>
            <a:srgbClr val="16161C"/>
          </a:solidFill>
          <a:ln w="1524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71432" y="2011680"/>
            <a:ext cx="2103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+60 min</a:t>
            </a:r>
          </a:p>
          <a:p>
            <a:br/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85.8% R²</a:t>
            </a:r>
          </a:p>
          <a:p>
            <a:pPr algn="ctr">
              <a:defRPr sz="1350">
                <a:solidFill>
                  <a:srgbClr val="A1A1AA"/>
                </a:solidFill>
                <a:latin typeface="Arial"/>
              </a:defRPr>
            </a:pPr>
            <a:r>
              <a:t>MAE: 3.45 km/h</a:t>
            </a:r>
          </a:p>
          <a:p>
            <a:br/>
            <a:pPr algn="ctr">
              <a:defRPr sz="1250">
                <a:solidFill>
                  <a:srgbClr val="50505F"/>
                </a:solidFill>
                <a:latin typeface="Arial"/>
              </a:defRPr>
            </a:pPr>
            <a:r>
              <a:t>1-Hour strategic horizon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5. Shockwave Propagation &amp; Dynamic Detours</a:t>
            </a:r>
          </a:p>
          <a:p>
            <a:pPr>
              <a:defRPr sz="1400">
                <a:solidFill>
                  <a:srgbClr val="A1A1AA"/>
                </a:solidFill>
                <a:latin typeface="Arial"/>
              </a:defRPr>
            </a:pPr>
            <a:r>
              <a:t>Graph-Aware Spillover Mitigation &amp; Automated Rerouting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6161C"/>
          </a:solidFill>
          <a:ln w="1524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Topological Feeder Analysis</a:t>
            </a:r>
          </a:p>
          <a:p>
            <a:br/>
            <a:pPr>
              <a:defRPr sz="1350">
                <a:solidFill>
                  <a:srgbClr val="A1A1AA"/>
                </a:solidFill>
                <a:latin typeface="Arial"/>
              </a:defRPr>
            </a:pPr>
            <a:r>
              <a:t>When a corridor is disrupted, the graph engine traces upstream in-edges to compute spillback speed drops and queue accumulation.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16161C"/>
          </a:solidFill>
          <a:ln w="1524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Dynamic Detour Routing</a:t>
            </a:r>
          </a:p>
          <a:p>
            <a:br/>
            <a:pPr>
              <a:defRPr sz="1350">
                <a:solidFill>
                  <a:srgbClr val="A1A1AA"/>
                </a:solidFill>
                <a:latin typeface="Arial"/>
              </a:defRPr>
            </a:pPr>
            <a:r>
              <a:t>Computes the optimal alternative shortest sub-graph path bypassing the incident link with exact detour length and added travel time penalty.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16161C"/>
          </a:solidFill>
          <a:ln w="1524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Incident Pulse Beacons</a:t>
            </a:r>
          </a:p>
          <a:p>
            <a:br/>
            <a:pPr>
              <a:defRPr sz="1350">
                <a:solidFill>
                  <a:srgbClr val="A1A1AA"/>
                </a:solidFill>
                <a:latin typeface="Arial"/>
              </a:defRPr>
            </a:pPr>
            <a:r>
              <a:t>High-contrast visual hierarchy: White incident beacon (!), silver upstream feeder alerts, and dashed white detour route lines.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6. What-If Sandbox &amp; Capital Planning</a:t>
            </a:r>
          </a:p>
          <a:p>
            <a:pPr>
              <a:defRPr sz="1400">
                <a:solidFill>
                  <a:srgbClr val="A1A1AA"/>
                </a:solidFill>
                <a:latin typeface="Arial"/>
              </a:defRPr>
            </a:pPr>
            <a:r>
              <a:t>Interactive Scenario Evaluator &amp; 90-Candidate ROI Matrix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6161C"/>
          </a:solidFill>
          <a:ln w="1524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Live Test Case Evaluator</a:t>
            </a:r>
          </a:p>
          <a:p>
            <a:br/>
            <a:pPr>
              <a:defRPr sz="1350">
                <a:solidFill>
                  <a:srgbClr val="A1A1AA"/>
                </a:solidFill>
                <a:latin typeface="Arial"/>
              </a:defRPr>
            </a:pPr>
            <a:r>
              <a:t>Injects custom lane blockages, accidents, or storms on any link. Normalizes inputs (4 -&gt; R0004) with dynamic physics synthesis.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16161C"/>
          </a:solidFill>
          <a:ln w="1524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90 Planning Candidates</a:t>
            </a:r>
          </a:p>
          <a:p>
            <a:br/>
            <a:pPr>
              <a:defRPr sz="1350">
                <a:solidFill>
                  <a:srgbClr val="A1A1AA"/>
                </a:solidFill>
                <a:latin typeface="Arial"/>
              </a:defRPr>
            </a:pPr>
            <a:r>
              <a:t>Evaluates Lane Additions, Capacity Upgrades, Turn Lanes, Signal Retiming, and Connectors for city authorities.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16161C"/>
          </a:solidFill>
          <a:ln w="1524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Quantitative ROI Score</a:t>
            </a:r>
          </a:p>
          <a:p>
            <a:br/>
            <a:pPr>
              <a:defRPr sz="1350">
                <a:solidFill>
                  <a:srgbClr val="A1A1AA"/>
                </a:solidFill>
                <a:latin typeface="Arial"/>
              </a:defRPr>
            </a:pPr>
            <a:r>
              <a:t>Ranked by Weekly Vehicle Delay Hours Saved per Unit Cost Index (ROI = Delay Hours / Cost Index).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914400"/>
            <a:ext cx="9448495" cy="5029200"/>
          </a:xfrm>
          <a:prstGeom prst="roundRect">
            <a:avLst/>
          </a:prstGeom>
          <a:solidFill>
            <a:srgbClr val="16161C"/>
          </a:solidFill>
          <a:ln w="19050">
            <a:solidFill>
              <a:srgbClr val="2D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280160"/>
            <a:ext cx="85340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ROADLYY — Smart City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56032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A1A1AA"/>
                </a:solidFill>
                <a:latin typeface="Arial"/>
              </a:defRPr>
            </a:pPr>
            <a:r>
              <a:t>Predictive. Graph-Aware. Production-Ready.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566160"/>
            <a:ext cx="85340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Domain: AI in Smart Cities | Team: Culers</a:t>
            </a:r>
          </a:p>
          <a:p>
            <a:pPr algn="ctr">
              <a:defRPr sz="1500">
                <a:solidFill>
                  <a:srgbClr val="A1A1AA"/>
                </a:solidFill>
                <a:latin typeface="Arial"/>
              </a:defRPr>
            </a:pPr>
            <a:r>
              <a:t>GitHub Repository: https://github.com/manuroszonero/roadlly</a:t>
            </a:r>
          </a:p>
          <a:p>
            <a:pPr algn="ctr">
              <a:defRPr sz="1300">
                <a:solidFill>
                  <a:srgbClr val="50505F"/>
                </a:solidFill>
                <a:latin typeface="Arial"/>
              </a:defRPr>
            </a:pPr>
            <a:r>
              <a:t>Transforming Metropolitan Traffic Management from Firefighting to Foresight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